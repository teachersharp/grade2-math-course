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32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10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fade_Delay0_3088166412944"/>
          <p:cNvSpPr txBox="1"/>
          <p:nvPr/>
        </p:nvSpPr>
        <p:spPr>
          <a:xfrm>
            <a:off x="360000" y="180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⏰ 2026-03-12 01:09</a:t>
            </a:r>
          </a:p>
        </p:txBody>
      </p:sp>
      <p:sp>
        <p:nvSpPr>
          <p:cNvPr id="5" name="Anim_zoom_Delay200_3088166414992"/>
          <p:cNvSpPr txBox="1"/>
          <p:nvPr/>
        </p:nvSpPr>
        <p:spPr>
          <a:xfrm>
            <a:off x="720000" y="1800000"/>
            <a:ext cx="5760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9E2A2B"/>
                </a:solidFill>
              </a:defRPr>
            </a:pPr>
            <a:r>
              <a:rPr sz="5400"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第1课 </a:t>
            </a:r>
            <a:r>
              <a:rPr sz="5400"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数字的奥秘</a:t>
            </a:r>
            <a:endParaRPr sz="5400"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415440"/>
          <p:cNvSpPr txBox="1"/>
          <p:nvPr/>
        </p:nvSpPr>
        <p:spPr>
          <a:xfrm>
            <a:off x="720000" y="306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2C3E4F"/>
                </a:solidFill>
              </a:defRPr>
            </a:pPr>
            <a:r>
              <a:rPr sz="2400" dirty="0" err="1">
                <a:solidFill>
                  <a:schemeClr val="accent1"/>
                </a:solidFill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探索数字规律，培养数感与逻辑思维</a:t>
            </a:r>
            <a:endParaRPr sz="2400" dirty="0">
              <a:solidFill>
                <a:schemeClr val="accent1"/>
              </a:solidFill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  <p:sp>
        <p:nvSpPr>
          <p:cNvPr id="7" name="Anim_fade_Delay700_3088166412944"/>
          <p:cNvSpPr txBox="1"/>
          <p:nvPr/>
        </p:nvSpPr>
        <p:spPr>
          <a:xfrm>
            <a:off x="720000" y="396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B4F9C"/>
                </a:solidFill>
              </a:defRPr>
            </a:pPr>
            <a:r>
              <a:rPr dirty="0"/>
              <a:t>👨‍🏫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夏老师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原创课件</a:t>
            </a:r>
            <a:endParaRPr dirty="0">
              <a:latin typeface="站酷快乐体2016修订版" panose="02010600030101010101" pitchFamily="2" charset="-122"/>
              <a:ea typeface="站酷快乐体2016修订版" panose="02010600030101010101" pitchFamily="2" charset="-122"/>
            </a:endParaRPr>
          </a:p>
        </p:txBody>
      </p:sp>
      <p:sp>
        <p:nvSpPr>
          <p:cNvPr id="8" name="Anim_bounce_Delay800_3088166415248"/>
          <p:cNvSpPr txBox="1"/>
          <p:nvPr/>
        </p:nvSpPr>
        <p:spPr>
          <a:xfrm>
            <a:off x="1080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1</a:t>
            </a:r>
          </a:p>
        </p:txBody>
      </p:sp>
      <p:sp>
        <p:nvSpPr>
          <p:cNvPr id="9" name="Anim_bounce_Delay900_3088166410832"/>
          <p:cNvSpPr txBox="1"/>
          <p:nvPr/>
        </p:nvSpPr>
        <p:spPr>
          <a:xfrm>
            <a:off x="1728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2</a:t>
            </a:r>
          </a:p>
        </p:txBody>
      </p:sp>
      <p:sp>
        <p:nvSpPr>
          <p:cNvPr id="10" name="Anim_bounce_Delay1000_3088166412688"/>
          <p:cNvSpPr txBox="1"/>
          <p:nvPr/>
        </p:nvSpPr>
        <p:spPr>
          <a:xfrm>
            <a:off x="2376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3</a:t>
            </a:r>
          </a:p>
        </p:txBody>
      </p:sp>
      <p:sp>
        <p:nvSpPr>
          <p:cNvPr id="11" name="Anim_bounce_Delay1100_3088166412752"/>
          <p:cNvSpPr txBox="1"/>
          <p:nvPr/>
        </p:nvSpPr>
        <p:spPr>
          <a:xfrm>
            <a:off x="3024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4</a:t>
            </a:r>
          </a:p>
        </p:txBody>
      </p:sp>
      <p:sp>
        <p:nvSpPr>
          <p:cNvPr id="12" name="Anim_bounce_Delay1200_3088166412944"/>
          <p:cNvSpPr txBox="1"/>
          <p:nvPr/>
        </p:nvSpPr>
        <p:spPr>
          <a:xfrm>
            <a:off x="3671999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5</a:t>
            </a:r>
          </a:p>
        </p:txBody>
      </p:sp>
      <p:sp>
        <p:nvSpPr>
          <p:cNvPr id="13" name="Anim_bounce_Delay1300_3088166412560"/>
          <p:cNvSpPr txBox="1"/>
          <p:nvPr/>
        </p:nvSpPr>
        <p:spPr>
          <a:xfrm>
            <a:off x="4320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6</a:t>
            </a:r>
          </a:p>
        </p:txBody>
      </p:sp>
      <p:sp>
        <p:nvSpPr>
          <p:cNvPr id="14" name="Anim_bounce_Delay1400_3088166416784"/>
          <p:cNvSpPr txBox="1"/>
          <p:nvPr/>
        </p:nvSpPr>
        <p:spPr>
          <a:xfrm>
            <a:off x="4968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7</a:t>
            </a:r>
          </a:p>
        </p:txBody>
      </p:sp>
      <p:sp>
        <p:nvSpPr>
          <p:cNvPr id="15" name="Anim_bounce_Delay1500_3088166415696"/>
          <p:cNvSpPr txBox="1"/>
          <p:nvPr/>
        </p:nvSpPr>
        <p:spPr>
          <a:xfrm>
            <a:off x="5616000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E2A2B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8</a:t>
            </a:r>
          </a:p>
        </p:txBody>
      </p:sp>
      <p:sp>
        <p:nvSpPr>
          <p:cNvPr id="16" name="Anim_bounce_Delay1600_3088166417360"/>
          <p:cNvSpPr txBox="1"/>
          <p:nvPr/>
        </p:nvSpPr>
        <p:spPr>
          <a:xfrm>
            <a:off x="6263999" y="5040000"/>
            <a:ext cx="5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rPr dirty="0">
                <a:latin typeface="华文彩云" panose="02010800040101010101" pitchFamily="2" charset="-122"/>
                <a:ea typeface="华文彩云" panose="02010800040101010101" pitchFamily="2" charset="-122"/>
              </a:rPr>
              <a:t>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120000"/>
            <a:ext cx="12192119" cy="72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Anim_fade_Delay1200_3088166417808"/>
          <p:cNvSpPr txBox="1"/>
          <p:nvPr/>
        </p:nvSpPr>
        <p:spPr>
          <a:xfrm>
            <a:off x="720000" y="6228000"/>
            <a:ext cx="57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 dirty="0"/>
              <a:t>🎯 </a:t>
            </a: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夏老师数学思维课堂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6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" presetID="26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0" presetID="26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8" presetID="26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4" presetID="26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26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46" presetID="26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23" presetClass="entr" presetSubtype="16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5" presetID="10" presetClass="entr" presetSubtype="0" fill="hold" grpId="1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26" presetClass="entr" presetSubtype="0" fill="hold" grpId="1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94" presetID="26" presetClass="entr" presetSubtype="0" fill="hold" grpId="1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0" presetID="26" presetClass="entr" presetSubtype="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26" presetID="26" presetClass="entr" presetSubtype="0" fill="hold" grpId="1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2" presetID="26" presetClass="entr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8" presetID="26" presetClass="entr" presetSubtype="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4" presetID="26" presetClass="entr" presetSubtype="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0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06" presetID="26" presetClass="entr" presetSubtype="0" fill="hold" grpId="1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22" presetID="10" presetClass="entr" presetSubtype="0" fill="hold" grpId="1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8" presetID="23" presetClass="entr" presetSubtype="16" fill="hold" grpId="2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grpId="2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8" presetID="26" presetClass="entr" presetSubtype="0" fill="hold" grpId="2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54" presetID="26" presetClass="entr" presetSubtype="0" fill="hold" grpId="2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0" presetID="26" presetClass="entr" presetSubtype="0" fill="hold" grpId="2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86" presetID="26" presetClass="entr" presetSubtype="0" fill="hold" grpId="2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3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02" presetID="26" presetClass="entr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8" presetID="26" presetClass="entr" presetSubtype="0" fill="hold" grpId="2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4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4" presetID="26" presetClass="entr" presetSubtype="0" fill="hold" grpId="2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0" presetID="26" presetClass="entr" presetSubtype="0" fill="hold" grpId="2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66" presetID="26" presetClass="entr" presetSubtype="0" fill="hold" grpId="2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7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7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82" presetID="10" presetClass="entr" presetSubtype="0" fill="hold" grpId="2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4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5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8" presetID="23" presetClass="entr" presetSubtype="16" fill="hold" grpId="3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2" presetID="10" presetClass="entr" presetSubtype="0" fill="hold" grpId="3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5" presetID="10" presetClass="entr" presetSubtype="0" fill="hold" grpId="3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8" presetID="26" presetClass="entr" presetSubtype="0" fill="hold" grpId="3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4" presetID="26" presetClass="entr" presetSubtype="0" fill="hold" grpId="3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0" presetID="26" presetClass="entr" presetSubtype="0" fill="hold" grpId="3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46" presetID="26" presetClass="entr" presetSubtype="0" fill="hold" grpId="3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5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62" presetID="26" presetClass="entr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78" presetID="26" presetClass="entr" presetSubtype="0" fill="hold" grpId="3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8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9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4" presetID="26" presetClass="entr" presetSubtype="0" fill="hold" grpId="3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0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0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10" presetID="26" presetClass="entr" presetSubtype="0" fill="hold" grpId="3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1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2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26" presetID="26" presetClass="entr" presetSubtype="0" fill="hold" grpId="3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6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42" presetID="10" presetClass="entr" presetSubtype="0" fill="hold" grpId="3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6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5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8" presetID="23" presetClass="entr" presetSubtype="16" fill="hold" grpId="4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2" presetID="10" presetClass="entr" presetSubtype="0" fill="hold" grpId="4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5" presetID="10" presetClass="entr" presetSubtype="0" fill="hold" grpId="4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8" presetID="26" presetClass="entr" presetSubtype="0" fill="hold" grpId="4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74" presetID="26" presetClass="entr" presetSubtype="0" fill="hold" grpId="4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690" presetID="26" presetClass="entr" presetSubtype="0" fill="hold" grpId="4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6" presetID="26" presetClass="entr" presetSubtype="0" fill="hold" grpId="4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22" presetID="26" presetClass="entr" presetSubtype="0" fill="hold" grpId="4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38" presetID="26" presetClass="entr" presetSubtype="0" fill="hold" grpId="4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7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4" presetID="26" presetClass="entr" presetSubtype="0" fill="hold" grpId="4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70" presetID="26" presetClass="entr" presetSubtype="0" fill="hold" grpId="4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86" presetID="26" presetClass="entr" presetSubtype="0" fill="hold" grpId="4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02" presetID="10" presetClass="entr" presetSubtype="0" fill="hold" grpId="4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8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4" grpId="3"/>
      <p:bldP spid="4" grpId="4"/>
      <p:bldP spid="5" grpId="0"/>
      <p:bldP spid="5" grpId="1"/>
      <p:bldP spid="5" grpId="2"/>
      <p:bldP spid="5" grpId="3"/>
      <p:bldP spid="5" grpId="4"/>
      <p:bldP spid="6" grpId="0"/>
      <p:bldP spid="6" grpId="1"/>
      <p:bldP spid="6" grpId="2"/>
      <p:bldP spid="6" grpId="3"/>
      <p:bldP spid="6" grpId="4"/>
      <p:bldP spid="7" grpId="0"/>
      <p:bldP spid="7" grpId="1"/>
      <p:bldP spid="7" grpId="2"/>
      <p:bldP spid="7" grpId="3"/>
      <p:bldP spid="7" grpId="4"/>
      <p:bldP spid="8" grpId="0"/>
      <p:bldP spid="8" grpId="1"/>
      <p:bldP spid="8" grpId="2"/>
      <p:bldP spid="8" grpId="3"/>
      <p:bldP spid="8" grpId="4"/>
      <p:bldP spid="9" grpId="0"/>
      <p:bldP spid="9" grpId="1"/>
      <p:bldP spid="9" grpId="2"/>
      <p:bldP spid="9" grpId="3"/>
      <p:bldP spid="9" grpId="4"/>
      <p:bldP spid="10" grpId="0"/>
      <p:bldP spid="10" grpId="1"/>
      <p:bldP spid="10" grpId="2"/>
      <p:bldP spid="10" grpId="3"/>
      <p:bldP spid="10" grpId="4"/>
      <p:bldP spid="11" grpId="0"/>
      <p:bldP spid="11" grpId="1"/>
      <p:bldP spid="11" grpId="2"/>
      <p:bldP spid="11" grpId="3"/>
      <p:bldP spid="11" grpId="4"/>
      <p:bldP spid="12" grpId="0"/>
      <p:bldP spid="12" grpId="1"/>
      <p:bldP spid="12" grpId="2"/>
      <p:bldP spid="12" grpId="3"/>
      <p:bldP spid="12" grpId="4"/>
      <p:bldP spid="13" grpId="0"/>
      <p:bldP spid="13" grpId="1"/>
      <p:bldP spid="13" grpId="2"/>
      <p:bldP spid="13" grpId="3"/>
      <p:bldP spid="13" grpId="4"/>
      <p:bldP spid="14" grpId="0"/>
      <p:bldP spid="14" grpId="1"/>
      <p:bldP spid="14" grpId="2"/>
      <p:bldP spid="14" grpId="3"/>
      <p:bldP spid="14" grpId="4"/>
      <p:bldP spid="15" grpId="0"/>
      <p:bldP spid="15" grpId="1"/>
      <p:bldP spid="15" grpId="2"/>
      <p:bldP spid="15" grpId="3"/>
      <p:bldP spid="15" grpId="4"/>
      <p:bldP spid="16" grpId="0"/>
      <p:bldP spid="16" grpId="1"/>
      <p:bldP spid="16" grpId="2"/>
      <p:bldP spid="16" grpId="3"/>
      <p:bldP spid="16" grpId="4"/>
      <p:bldP spid="18" grpId="0"/>
      <p:bldP spid="18" grpId="1"/>
      <p:bldP spid="18" grpId="2"/>
      <p:bldP spid="18" grpId="3"/>
      <p:bldP spid="18" grpId="4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nim_fade_Delay0_3088166419216"/>
          <p:cNvSpPr txBox="1"/>
          <p:nvPr/>
        </p:nvSpPr>
        <p:spPr>
          <a:xfrm>
            <a:off x="720000" y="540000"/>
            <a:ext cx="576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6B4F9C"/>
                </a:solidFill>
              </a:defRPr>
            </a:pPr>
            <a:r>
              <a:rPr dirty="0"/>
              <a:t>📋 </a:t>
            </a: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课程导航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4" name="Anim_fly_in_Delay200_3088166420048"/>
          <p:cNvSpPr/>
          <p:nvPr/>
        </p:nvSpPr>
        <p:spPr>
          <a:xfrm>
            <a:off x="1080000" y="16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_fade_Delay300_3088166419984"/>
          <p:cNvSpPr txBox="1"/>
          <p:nvPr/>
        </p:nvSpPr>
        <p:spPr>
          <a:xfrm>
            <a:off x="1260000" y="172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t>🎮</a:t>
            </a:r>
          </a:p>
        </p:txBody>
      </p:sp>
      <p:sp>
        <p:nvSpPr>
          <p:cNvPr id="6" name="Anim_fade_Delay350_3088166419152"/>
          <p:cNvSpPr txBox="1"/>
          <p:nvPr/>
        </p:nvSpPr>
        <p:spPr>
          <a:xfrm>
            <a:off x="1800000" y="1735004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E2A2B"/>
                </a:solidFill>
              </a:defRPr>
            </a:pPr>
            <a:r>
              <a:rPr sz="2400" dirty="0" err="1">
                <a:latin typeface="字魂18号-小恐龙" panose="00000500000000000000" pitchFamily="2" charset="-122"/>
                <a:ea typeface="字魂18号-小恐龙" panose="00000500000000000000" pitchFamily="2" charset="-122"/>
              </a:rPr>
              <a:t>热身游戏</a:t>
            </a:r>
            <a:endParaRPr sz="2400" dirty="0">
              <a:latin typeface="字魂18号-小恐龙" panose="00000500000000000000" pitchFamily="2" charset="-122"/>
              <a:ea typeface="字魂18号-小恐龙" panose="00000500000000000000" pitchFamily="2" charset="-122"/>
            </a:endParaRPr>
          </a:p>
        </p:txBody>
      </p:sp>
      <p:sp>
        <p:nvSpPr>
          <p:cNvPr id="7" name="Anim_fade_Delay400_3088166419984"/>
          <p:cNvSpPr txBox="1"/>
          <p:nvPr/>
        </p:nvSpPr>
        <p:spPr>
          <a:xfrm>
            <a:off x="3216000" y="1815110"/>
            <a:ext cx="28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sz="1600"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数字炸弹</a:t>
            </a:r>
            <a:r>
              <a:rPr sz="1600" dirty="0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 2.0</a:t>
            </a:r>
          </a:p>
        </p:txBody>
      </p:sp>
      <p:sp>
        <p:nvSpPr>
          <p:cNvPr id="8" name="Anim_fly_in_Delay350_3088166419536"/>
          <p:cNvSpPr/>
          <p:nvPr/>
        </p:nvSpPr>
        <p:spPr>
          <a:xfrm>
            <a:off x="1080000" y="25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_fade_Delay450_3088166439248"/>
          <p:cNvSpPr txBox="1"/>
          <p:nvPr/>
        </p:nvSpPr>
        <p:spPr>
          <a:xfrm>
            <a:off x="1260000" y="262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t>📚</a:t>
            </a:r>
          </a:p>
        </p:txBody>
      </p:sp>
      <p:sp>
        <p:nvSpPr>
          <p:cNvPr id="10" name="Anim_fade_Delay500_3088166438672"/>
          <p:cNvSpPr txBox="1"/>
          <p:nvPr/>
        </p:nvSpPr>
        <p:spPr>
          <a:xfrm>
            <a:off x="1800000" y="2670720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4F9C"/>
                </a:solidFill>
              </a:defRPr>
            </a:pPr>
            <a:r>
              <a:rPr sz="2400" dirty="0" err="1">
                <a:latin typeface="字魂18号-小恐龙" panose="00000500000000000000" pitchFamily="2" charset="-122"/>
                <a:ea typeface="字魂18号-小恐龙" panose="00000500000000000000" pitchFamily="2" charset="-122"/>
              </a:rPr>
              <a:t>基础练习</a:t>
            </a:r>
            <a:endParaRPr dirty="0">
              <a:latin typeface="字魂18号-小恐龙" panose="00000500000000000000" pitchFamily="2" charset="-122"/>
              <a:ea typeface="字魂18号-小恐龙" panose="00000500000000000000" pitchFamily="2" charset="-122"/>
            </a:endParaRPr>
          </a:p>
        </p:txBody>
      </p:sp>
      <p:sp>
        <p:nvSpPr>
          <p:cNvPr id="11" name="Anim_fade_Delay550_3088166439056"/>
          <p:cNvSpPr txBox="1"/>
          <p:nvPr/>
        </p:nvSpPr>
        <p:spPr>
          <a:xfrm>
            <a:off x="3216000" y="2727457"/>
            <a:ext cx="28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兴趣唤醒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  <p:sp>
        <p:nvSpPr>
          <p:cNvPr id="12" name="Anim_fly_in_Delay500_3088166439248"/>
          <p:cNvSpPr/>
          <p:nvPr/>
        </p:nvSpPr>
        <p:spPr>
          <a:xfrm>
            <a:off x="1080000" y="34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Anim_fade_Delay600_3088166440912"/>
          <p:cNvSpPr txBox="1"/>
          <p:nvPr/>
        </p:nvSpPr>
        <p:spPr>
          <a:xfrm>
            <a:off x="1260000" y="352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t>⭐</a:t>
            </a:r>
          </a:p>
        </p:txBody>
      </p:sp>
      <p:sp>
        <p:nvSpPr>
          <p:cNvPr id="14" name="Anim_fade_Delay650_3088166440016"/>
          <p:cNvSpPr txBox="1"/>
          <p:nvPr/>
        </p:nvSpPr>
        <p:spPr>
          <a:xfrm>
            <a:off x="1800000" y="3549167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B800"/>
                </a:solidFill>
              </a:defRPr>
            </a:pPr>
            <a:r>
              <a:rPr sz="2400" dirty="0" err="1">
                <a:latin typeface="字魂18号-小恐龙" panose="00000500000000000000" pitchFamily="2" charset="-122"/>
                <a:ea typeface="字魂18号-小恐龙" panose="00000500000000000000" pitchFamily="2" charset="-122"/>
              </a:rPr>
              <a:t>提高练习</a:t>
            </a:r>
            <a:endParaRPr dirty="0">
              <a:latin typeface="字魂18号-小恐龙" panose="00000500000000000000" pitchFamily="2" charset="-122"/>
              <a:ea typeface="字魂18号-小恐龙" panose="00000500000000000000" pitchFamily="2" charset="-122"/>
            </a:endParaRPr>
          </a:p>
        </p:txBody>
      </p:sp>
      <p:sp>
        <p:nvSpPr>
          <p:cNvPr id="15" name="Anim_fade_Delay700_3088166441232"/>
          <p:cNvSpPr txBox="1"/>
          <p:nvPr/>
        </p:nvSpPr>
        <p:spPr>
          <a:xfrm>
            <a:off x="3240000" y="3645910"/>
            <a:ext cx="28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思维拓展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  <p:sp>
        <p:nvSpPr>
          <p:cNvPr id="16" name="Anim_fly_in_Delay650_3088166441104"/>
          <p:cNvSpPr/>
          <p:nvPr/>
        </p:nvSpPr>
        <p:spPr>
          <a:xfrm>
            <a:off x="1080000" y="43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9E2A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Anim_fade_Delay750_3088166442384"/>
          <p:cNvSpPr txBox="1"/>
          <p:nvPr/>
        </p:nvSpPr>
        <p:spPr>
          <a:xfrm>
            <a:off x="1260000" y="442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t>🏆</a:t>
            </a:r>
          </a:p>
        </p:txBody>
      </p:sp>
      <p:sp>
        <p:nvSpPr>
          <p:cNvPr id="18" name="Anim_fade_Delay800_3088166442832"/>
          <p:cNvSpPr txBox="1"/>
          <p:nvPr/>
        </p:nvSpPr>
        <p:spPr>
          <a:xfrm>
            <a:off x="1800000" y="4455503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9E2A2B"/>
                </a:solidFill>
              </a:defRPr>
            </a:pPr>
            <a:r>
              <a:rPr sz="2400" dirty="0" err="1">
                <a:latin typeface="字魂18号-小恐龙" panose="00000500000000000000" pitchFamily="2" charset="-122"/>
                <a:ea typeface="字魂18号-小恐龙" panose="00000500000000000000" pitchFamily="2" charset="-122"/>
              </a:rPr>
              <a:t>挑战练习</a:t>
            </a:r>
            <a:endParaRPr dirty="0">
              <a:latin typeface="字魂18号-小恐龙" panose="00000500000000000000" pitchFamily="2" charset="-122"/>
              <a:ea typeface="字魂18号-小恐龙" panose="00000500000000000000" pitchFamily="2" charset="-122"/>
            </a:endParaRPr>
          </a:p>
        </p:txBody>
      </p:sp>
      <p:sp>
        <p:nvSpPr>
          <p:cNvPr id="19" name="Anim_fade_Delay850_3088166441232"/>
          <p:cNvSpPr txBox="1"/>
          <p:nvPr/>
        </p:nvSpPr>
        <p:spPr>
          <a:xfrm>
            <a:off x="3240000" y="4511665"/>
            <a:ext cx="28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能力提升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  <p:sp>
        <p:nvSpPr>
          <p:cNvPr id="20" name="Anim_fly_in_Delay800_3088164674832"/>
          <p:cNvSpPr/>
          <p:nvPr/>
        </p:nvSpPr>
        <p:spPr>
          <a:xfrm>
            <a:off x="1080000" y="5220000"/>
            <a:ext cx="5040000" cy="72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Anim_fade_Delay900_3088166443856"/>
          <p:cNvSpPr txBox="1"/>
          <p:nvPr/>
        </p:nvSpPr>
        <p:spPr>
          <a:xfrm>
            <a:off x="1260000" y="5328000"/>
            <a:ext cx="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t>🎨</a:t>
            </a:r>
          </a:p>
        </p:txBody>
      </p:sp>
      <p:sp>
        <p:nvSpPr>
          <p:cNvPr id="22" name="Anim_fade_Delay950_3088166444368"/>
          <p:cNvSpPr txBox="1"/>
          <p:nvPr/>
        </p:nvSpPr>
        <p:spPr>
          <a:xfrm>
            <a:off x="1800000" y="5343840"/>
            <a:ext cx="180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B4F9C"/>
                </a:solidFill>
              </a:defRPr>
            </a:pPr>
            <a:r>
              <a:rPr sz="2400" dirty="0" err="1">
                <a:latin typeface="字魂18号-小恐龙" panose="00000500000000000000" pitchFamily="2" charset="-122"/>
                <a:ea typeface="字魂18号-小恐龙" panose="00000500000000000000" pitchFamily="2" charset="-122"/>
              </a:rPr>
              <a:t>教具清单</a:t>
            </a:r>
            <a:endParaRPr dirty="0">
              <a:latin typeface="字魂18号-小恐龙" panose="00000500000000000000" pitchFamily="2" charset="-122"/>
              <a:ea typeface="字魂18号-小恐龙" panose="00000500000000000000" pitchFamily="2" charset="-122"/>
            </a:endParaRPr>
          </a:p>
        </p:txBody>
      </p:sp>
      <p:sp>
        <p:nvSpPr>
          <p:cNvPr id="23" name="Anim_fade_Delay1000_3088166442768"/>
          <p:cNvSpPr txBox="1"/>
          <p:nvPr/>
        </p:nvSpPr>
        <p:spPr>
          <a:xfrm>
            <a:off x="3240000" y="5430673"/>
            <a:ext cx="288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课堂准备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3" grpId="2"/>
      <p:bldP spid="3" grpId="3"/>
      <p:bldP spid="3" grpId="4"/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/>
      <p:bldP spid="12" grpId="0" animBg="1"/>
      <p:bldP spid="13" grpId="0"/>
      <p:bldP spid="14" grpId="0"/>
      <p:bldP spid="15" grpId="0"/>
      <p:bldP spid="16" grpId="0" animBg="1"/>
      <p:bldP spid="17" grpId="0"/>
      <p:bldP spid="18" grpId="0"/>
      <p:bldP spid="19" grpId="0"/>
      <p:bldP spid="20" grpId="0" animBg="1"/>
      <p:bldP spid="21" grpId="0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46352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C3E4F"/>
                </a:solidFill>
              </a:defRPr>
            </a:pPr>
            <a:r>
              <a:t>🎮</a:t>
            </a:r>
          </a:p>
        </p:txBody>
      </p:sp>
      <p:sp>
        <p:nvSpPr>
          <p:cNvPr id="5" name="Anim_zoom_Delay300_3088166446992"/>
          <p:cNvSpPr txBox="1"/>
          <p:nvPr/>
        </p:nvSpPr>
        <p:spPr>
          <a:xfrm>
            <a:off x="720000" y="3240000"/>
            <a:ext cx="57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热身游戏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445328"/>
          <p:cNvSpPr txBox="1"/>
          <p:nvPr/>
        </p:nvSpPr>
        <p:spPr>
          <a:xfrm>
            <a:off x="720000" y="414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数字炸弹</a:t>
            </a:r>
            <a:r>
              <a:rPr dirty="0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 2.0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0000" y="360000"/>
            <a:ext cx="6480000" cy="72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fade_Delay0_3088166449744"/>
          <p:cNvSpPr txBox="1"/>
          <p:nvPr/>
        </p:nvSpPr>
        <p:spPr>
          <a:xfrm>
            <a:off x="360000" y="360000"/>
            <a:ext cx="648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🎮 </a:t>
            </a: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数字炸弹</a:t>
            </a: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 2</a:t>
            </a:r>
            <a:r>
              <a:rPr lang="zh-CN" altLang="en-US" sz="2000"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。</a:t>
            </a: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0</a:t>
            </a:r>
          </a:p>
        </p:txBody>
      </p:sp>
      <p:sp>
        <p:nvSpPr>
          <p:cNvPr id="5" name="Anim_fly_in_Delay200_3088166448528"/>
          <p:cNvSpPr/>
          <p:nvPr/>
        </p:nvSpPr>
        <p:spPr>
          <a:xfrm>
            <a:off x="720000" y="1440000"/>
            <a:ext cx="5760000" cy="36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_fade_Delay400_3088166451280"/>
          <p:cNvSpPr txBox="1"/>
          <p:nvPr/>
        </p:nvSpPr>
        <p:spPr>
          <a:xfrm>
            <a:off x="1080000" y="1800000"/>
            <a:ext cx="50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4F"/>
                </a:solidFill>
              </a:defRPr>
            </a:pPr>
            <a:r>
              <a:rPr sz="2000"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1️⃣ 从30倒数到1</a:t>
            </a:r>
          </a:p>
        </p:txBody>
      </p:sp>
      <p:sp>
        <p:nvSpPr>
          <p:cNvPr id="7" name="Anim_fade_Delay600_3088166450768"/>
          <p:cNvSpPr txBox="1"/>
          <p:nvPr/>
        </p:nvSpPr>
        <p:spPr>
          <a:xfrm>
            <a:off x="1080000" y="2340000"/>
            <a:ext cx="50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4F"/>
                </a:solidFill>
              </a:defRPr>
            </a:pPr>
            <a:r>
              <a:rPr sz="2000"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2️⃣ 遇到5的倍数或含5的数字拍桌子</a:t>
            </a:r>
          </a:p>
        </p:txBody>
      </p:sp>
      <p:sp>
        <p:nvSpPr>
          <p:cNvPr id="8" name="Anim_fade_Delay800_3088166450128"/>
          <p:cNvSpPr txBox="1"/>
          <p:nvPr/>
        </p:nvSpPr>
        <p:spPr>
          <a:xfrm>
            <a:off x="1080000" y="2880000"/>
            <a:ext cx="51442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4F"/>
                </a:solidFill>
              </a:defRPr>
            </a:pPr>
            <a:r>
              <a:rPr sz="2000"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3️⃣ 拍桌子时说出"5的倍数！"或"含5数字！"</a:t>
            </a:r>
          </a:p>
        </p:txBody>
      </p:sp>
      <p:sp>
        <p:nvSpPr>
          <p:cNvPr id="9" name="Anim_fade_Delay1000_3088166450256"/>
          <p:cNvSpPr txBox="1"/>
          <p:nvPr/>
        </p:nvSpPr>
        <p:spPr>
          <a:xfrm>
            <a:off x="1080000" y="3420000"/>
            <a:ext cx="504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2C3E4F"/>
                </a:solidFill>
              </a:defRPr>
            </a:pPr>
            <a:r>
              <a:rPr sz="2000"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4️⃣ </a:t>
            </a:r>
            <a:r>
              <a:rPr sz="2000"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出错的人表演一个小节目</a:t>
            </a:r>
            <a:endParaRPr sz="2000" dirty="0">
              <a:latin typeface="站酷快乐体2016修订版" panose="02010600030101010101" pitchFamily="2" charset="-122"/>
              <a:ea typeface="站酷快乐体2016修订版" panose="02010600030101010101" pitchFamily="2" charset="-122"/>
            </a:endParaRPr>
          </a:p>
        </p:txBody>
      </p:sp>
      <p:sp>
        <p:nvSpPr>
          <p:cNvPr id="10" name="Anim_fade_Delay1200_3088166449552"/>
          <p:cNvSpPr/>
          <p:nvPr/>
        </p:nvSpPr>
        <p:spPr>
          <a:xfrm>
            <a:off x="720000" y="3960000"/>
            <a:ext cx="5760000" cy="108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fade_Delay1300_3088166453136"/>
          <p:cNvSpPr txBox="1"/>
          <p:nvPr/>
        </p:nvSpPr>
        <p:spPr>
          <a:xfrm>
            <a:off x="1080000" y="4068000"/>
            <a:ext cx="5040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💡 示例：30（拍！5的倍数）→ 29 → 28 → 27 → 26 → 25（拍！含5数字）→ 24...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72208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C3E4F"/>
                </a:solidFill>
              </a:defRPr>
            </a:pPr>
            <a:r>
              <a:t>📚</a:t>
            </a:r>
          </a:p>
        </p:txBody>
      </p:sp>
      <p:sp>
        <p:nvSpPr>
          <p:cNvPr id="5" name="Anim_zoom_Delay300_3088166472912"/>
          <p:cNvSpPr txBox="1"/>
          <p:nvPr/>
        </p:nvSpPr>
        <p:spPr>
          <a:xfrm>
            <a:off x="720000" y="3240000"/>
            <a:ext cx="57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基础练习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471888"/>
          <p:cNvSpPr txBox="1"/>
          <p:nvPr/>
        </p:nvSpPr>
        <p:spPr>
          <a:xfrm>
            <a:off x="720000" y="414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兴趣唤醒</a:t>
            </a:r>
            <a:r>
              <a:rPr dirty="0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 - </a:t>
            </a: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小动物探险队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48272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_fade_Delay100_3088166445904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题1</a:t>
            </a:r>
          </a:p>
        </p:txBody>
      </p:sp>
      <p:sp>
        <p:nvSpPr>
          <p:cNvPr id="6" name="Anim_fade_Delay200_3088166447504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4F9C"/>
                </a:solidFill>
              </a:defRPr>
            </a:pPr>
            <a:r>
              <a:t>🐸 小青蛙跳荷叶 - 图形找规律</a:t>
            </a:r>
          </a:p>
        </p:txBody>
      </p:sp>
      <p:sp>
        <p:nvSpPr>
          <p:cNvPr id="7" name="Anim_fly_in_Delay300_3088166449360"/>
          <p:cNvSpPr txBox="1"/>
          <p:nvPr/>
        </p:nvSpPr>
        <p:spPr>
          <a:xfrm>
            <a:off x="540000" y="900000"/>
            <a:ext cx="612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rPr dirty="0"/>
              <a:t>△ □ ○ △ □ ○ __ __ __</a:t>
            </a:r>
            <a:br>
              <a:rPr dirty="0"/>
            </a:br>
            <a:r>
              <a:rPr sz="2000" dirty="0"/>
              <a:t>（</a:t>
            </a:r>
            <a:r>
              <a:rPr sz="2000" dirty="0" err="1"/>
              <a:t>循环规律</a:t>
            </a:r>
            <a:r>
              <a:rPr sz="2000" dirty="0"/>
              <a:t>）</a:t>
            </a:r>
          </a:p>
        </p:txBody>
      </p:sp>
      <p:sp>
        <p:nvSpPr>
          <p:cNvPr id="8" name="ClickToShow_Answer_1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_fade_Delay600_3088166440912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Anim_fade_Delay700_3088166442896"/>
          <p:cNvSpPr txBox="1"/>
          <p:nvPr/>
        </p:nvSpPr>
        <p:spPr>
          <a:xfrm>
            <a:off x="720000" y="2592000"/>
            <a:ext cx="57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：△ □ ○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就像找朋友一样，把重复的图形圈成一组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！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△、□、○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是一组好朋友，轮流出现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～</a:t>
            </a:r>
          </a:p>
        </p:txBody>
      </p:sp>
      <p:sp>
        <p:nvSpPr>
          <p:cNvPr id="11" name="Anim_fade_Delay900_3088166442256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_fade_Delay1000_3088166437008"/>
          <p:cNvSpPr txBox="1"/>
          <p:nvPr/>
        </p:nvSpPr>
        <p:spPr>
          <a:xfrm>
            <a:off x="720000" y="4256111"/>
            <a:ext cx="324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sz="1400" dirty="0"/>
              <a:t>🎵 </a:t>
            </a:r>
            <a:r>
              <a:rPr sz="1400" dirty="0" err="1"/>
              <a:t>数字跳跳跳，规律找找找</a:t>
            </a:r>
            <a:endParaRPr sz="1400" dirty="0"/>
          </a:p>
        </p:txBody>
      </p:sp>
      <p:sp>
        <p:nvSpPr>
          <p:cNvPr id="13" name="Anim_fade_Delay1100_3088166438480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fade_Delay1200_3088136351376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rPr dirty="0" err="1"/>
              <a:t>观察力</a:t>
            </a:r>
            <a:endParaRPr dirty="0"/>
          </a:p>
        </p:txBody>
      </p:sp>
      <p:sp>
        <p:nvSpPr>
          <p:cNvPr id="15" name="Anim_fade_Delay1200_3088166440720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_fade_Delay1300_3088166418640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逻辑力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08464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_fade_Delay100_3088166473296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题2</a:t>
            </a:r>
          </a:p>
        </p:txBody>
      </p:sp>
      <p:sp>
        <p:nvSpPr>
          <p:cNvPr id="6" name="Anim_fade_Delay200_3088166471120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4F9C"/>
                </a:solidFill>
              </a:defRPr>
            </a:pPr>
            <a:r>
              <a:t>🐰 小兔子吃萝卜 - 重复组规律</a:t>
            </a:r>
          </a:p>
        </p:txBody>
      </p:sp>
      <p:sp>
        <p:nvSpPr>
          <p:cNvPr id="7" name="Anim_fly_in_Delay300_3088166471056"/>
          <p:cNvSpPr txBox="1"/>
          <p:nvPr/>
        </p:nvSpPr>
        <p:spPr>
          <a:xfrm>
            <a:off x="540000" y="900000"/>
            <a:ext cx="612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rPr dirty="0"/>
              <a:t>🌸 🍀 🍀 🌸 🍀 🍀 __ __ __</a:t>
            </a:r>
            <a:br>
              <a:rPr dirty="0"/>
            </a:br>
            <a:r>
              <a:rPr sz="2000" dirty="0"/>
              <a:t>（</a:t>
            </a:r>
            <a:r>
              <a:rPr sz="2000" dirty="0" err="1"/>
              <a:t>重复组规律</a:t>
            </a:r>
            <a:r>
              <a:rPr sz="2000" dirty="0"/>
              <a:t>）</a:t>
            </a:r>
            <a:endParaRPr dirty="0"/>
          </a:p>
        </p:txBody>
      </p:sp>
      <p:sp>
        <p:nvSpPr>
          <p:cNvPr id="8" name="ClickToShow_Answer_2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_fade_Delay600_3088166474192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Anim_fade_Delay700_3088166473872"/>
          <p:cNvSpPr txBox="1"/>
          <p:nvPr/>
        </p:nvSpPr>
        <p:spPr>
          <a:xfrm>
            <a:off x="720000" y="2592000"/>
            <a:ext cx="57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：🌸 🍀 🍀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1朵花配2片叶子，是一个小组！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小组重复出现，就像排队做操一样整齐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～</a:t>
            </a:r>
          </a:p>
        </p:txBody>
      </p:sp>
      <p:sp>
        <p:nvSpPr>
          <p:cNvPr id="11" name="Anim_fade_Delay900_3088166412496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_fade_Delay1000_3088166475408"/>
          <p:cNvSpPr txBox="1"/>
          <p:nvPr/>
        </p:nvSpPr>
        <p:spPr>
          <a:xfrm>
            <a:off x="720000" y="4271500"/>
            <a:ext cx="32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sz="1200" dirty="0"/>
              <a:t>🎵 </a:t>
            </a:r>
            <a:r>
              <a:rPr sz="1200" dirty="0" err="1"/>
              <a:t>找小组，看重复，规律藏在组里面</a:t>
            </a:r>
            <a:endParaRPr sz="1200" dirty="0"/>
          </a:p>
        </p:txBody>
      </p:sp>
      <p:sp>
        <p:nvSpPr>
          <p:cNvPr id="13" name="Anim_fade_Delay1100_3088166474384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fade_Delay1200_3088166476240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观察力</a:t>
            </a:r>
          </a:p>
        </p:txBody>
      </p:sp>
      <p:sp>
        <p:nvSpPr>
          <p:cNvPr id="15" name="Anim_fade_Delay1200_3088166416656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_fade_Delay1300_3088166476816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归纳力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78928"/>
          <p:cNvSpPr/>
          <p:nvPr/>
        </p:nvSpPr>
        <p:spPr>
          <a:xfrm>
            <a:off x="540000" y="360000"/>
            <a:ext cx="720000" cy="360000"/>
          </a:xfrm>
          <a:prstGeom prst="round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_fade_Delay100_3088166479568"/>
          <p:cNvSpPr txBox="1"/>
          <p:nvPr/>
        </p:nvSpPr>
        <p:spPr>
          <a:xfrm>
            <a:off x="540000" y="396000"/>
            <a:ext cx="72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题3</a:t>
            </a:r>
          </a:p>
        </p:txBody>
      </p:sp>
      <p:sp>
        <p:nvSpPr>
          <p:cNvPr id="6" name="Anim_fade_Delay200_3088166479312"/>
          <p:cNvSpPr txBox="1"/>
          <p:nvPr/>
        </p:nvSpPr>
        <p:spPr>
          <a:xfrm>
            <a:off x="1440000" y="360000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4F9C"/>
                </a:solidFill>
              </a:defRPr>
            </a:pPr>
            <a:r>
              <a:t>🚂 小火车运数字 - 数字排序</a:t>
            </a:r>
          </a:p>
        </p:txBody>
      </p:sp>
      <p:sp>
        <p:nvSpPr>
          <p:cNvPr id="7" name="Anim_fly_in_Delay300_3088166478544"/>
          <p:cNvSpPr txBox="1"/>
          <p:nvPr/>
        </p:nvSpPr>
        <p:spPr>
          <a:xfrm>
            <a:off x="540000" y="900000"/>
            <a:ext cx="612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2C3E4F"/>
                </a:solidFill>
              </a:defRPr>
            </a:pP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把数字按从小到大排列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15, 8, 23, 6, 19, 11</a:t>
            </a:r>
          </a:p>
        </p:txBody>
      </p:sp>
      <p:sp>
        <p:nvSpPr>
          <p:cNvPr id="8" name="ClickToShow_Answer_3"/>
          <p:cNvSpPr/>
          <p:nvPr/>
        </p:nvSpPr>
        <p:spPr>
          <a:xfrm>
            <a:off x="540000" y="2160000"/>
            <a:ext cx="612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Anim_fade_Delay600_3088166481424"/>
          <p:cNvSpPr txBox="1"/>
          <p:nvPr/>
        </p:nvSpPr>
        <p:spPr>
          <a:xfrm>
            <a:off x="720000" y="226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0" name="Anim_fade_Delay700_3088166478672"/>
          <p:cNvSpPr txBox="1"/>
          <p:nvPr/>
        </p:nvSpPr>
        <p:spPr>
          <a:xfrm>
            <a:off x="720000" y="2592000"/>
            <a:ext cx="57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答案：6, 8, 11, 15, 19, 23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小技巧：先找最小的（6），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再找剩下的里面最小的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，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像排队一样一个一个来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～</a:t>
            </a:r>
          </a:p>
        </p:txBody>
      </p:sp>
      <p:sp>
        <p:nvSpPr>
          <p:cNvPr id="11" name="Anim_fade_Delay900_3088166481168"/>
          <p:cNvSpPr/>
          <p:nvPr/>
        </p:nvSpPr>
        <p:spPr>
          <a:xfrm>
            <a:off x="540000" y="4140000"/>
            <a:ext cx="360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Anim_fade_Delay1000_3088166482832"/>
          <p:cNvSpPr txBox="1"/>
          <p:nvPr/>
        </p:nvSpPr>
        <p:spPr>
          <a:xfrm>
            <a:off x="720000" y="4271500"/>
            <a:ext cx="324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sz="1200" dirty="0"/>
              <a:t>🎵 </a:t>
            </a:r>
            <a:r>
              <a:rPr sz="1200" dirty="0" err="1"/>
              <a:t>比大小，排排队，从小到大不插队</a:t>
            </a:r>
            <a:endParaRPr sz="1200" dirty="0"/>
          </a:p>
        </p:txBody>
      </p:sp>
      <p:sp>
        <p:nvSpPr>
          <p:cNvPr id="13" name="Anim_fade_Delay1100_3088166481936"/>
          <p:cNvSpPr/>
          <p:nvPr/>
        </p:nvSpPr>
        <p:spPr>
          <a:xfrm>
            <a:off x="450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fade_Delay1200_3088166483856"/>
          <p:cNvSpPr txBox="1"/>
          <p:nvPr/>
        </p:nvSpPr>
        <p:spPr>
          <a:xfrm>
            <a:off x="450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数感</a:t>
            </a:r>
          </a:p>
        </p:txBody>
      </p:sp>
      <p:sp>
        <p:nvSpPr>
          <p:cNvPr id="15" name="Anim_fade_Delay1200_3088166484240"/>
          <p:cNvSpPr/>
          <p:nvPr/>
        </p:nvSpPr>
        <p:spPr>
          <a:xfrm>
            <a:off x="5580000" y="4212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_fade_Delay1300_3088166484816"/>
          <p:cNvSpPr txBox="1"/>
          <p:nvPr/>
        </p:nvSpPr>
        <p:spPr>
          <a:xfrm>
            <a:off x="5580000" y="4230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比较力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87376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C3E4F"/>
                </a:solidFill>
              </a:defRPr>
            </a:pPr>
            <a:r>
              <a:t>⭐</a:t>
            </a:r>
          </a:p>
        </p:txBody>
      </p:sp>
      <p:sp>
        <p:nvSpPr>
          <p:cNvPr id="5" name="Anim_zoom_Delay300_3088166487184"/>
          <p:cNvSpPr txBox="1"/>
          <p:nvPr/>
        </p:nvSpPr>
        <p:spPr>
          <a:xfrm>
            <a:off x="720000" y="3240000"/>
            <a:ext cx="57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提高练习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486864"/>
          <p:cNvSpPr txBox="1"/>
          <p:nvPr/>
        </p:nvSpPr>
        <p:spPr>
          <a:xfrm>
            <a:off x="720000" y="414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思维拓展</a:t>
            </a:r>
            <a:r>
              <a:rPr dirty="0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 - </a:t>
            </a: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侦探大挑战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36663504"/>
          <p:cNvSpPr txBox="1"/>
          <p:nvPr/>
        </p:nvSpPr>
        <p:spPr>
          <a:xfrm>
            <a:off x="5400000" y="18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9E2A2B"/>
                </a:solidFill>
              </a:defRPr>
            </a:pPr>
            <a:r>
              <a:t>⭐⭐</a:t>
            </a:r>
          </a:p>
        </p:txBody>
      </p:sp>
      <p:sp>
        <p:nvSpPr>
          <p:cNvPr id="5" name="Anim_fade_Delay100_3088166490896"/>
          <p:cNvSpPr/>
          <p:nvPr/>
        </p:nvSpPr>
        <p:spPr>
          <a:xfrm>
            <a:off x="539999" y="180000"/>
            <a:ext cx="1746521" cy="288000"/>
          </a:xfrm>
          <a:prstGeom prst="roundRect">
            <a:avLst/>
          </a:prstGeom>
          <a:solidFill>
            <a:srgbClr val="F2EFF8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_fade_Delay200_3088166492944"/>
          <p:cNvSpPr txBox="1"/>
          <p:nvPr/>
        </p:nvSpPr>
        <p:spPr>
          <a:xfrm>
            <a:off x="611999" y="198000"/>
            <a:ext cx="17465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4F9C"/>
                </a:solidFill>
              </a:defRPr>
            </a:pPr>
            <a:r>
              <a:rPr sz="1200" dirty="0" err="1"/>
              <a:t>方法：整体减部分法</a:t>
            </a:r>
            <a:endParaRPr sz="1200" dirty="0"/>
          </a:p>
        </p:txBody>
      </p:sp>
      <p:sp>
        <p:nvSpPr>
          <p:cNvPr id="7" name="Anim_fade_Delay300_3088166492432"/>
          <p:cNvSpPr txBox="1"/>
          <p:nvPr/>
        </p:nvSpPr>
        <p:spPr>
          <a:xfrm>
            <a:off x="540000" y="54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4F9C"/>
                </a:solidFill>
              </a:defRPr>
            </a:pPr>
            <a:r>
              <a:t>题4</a:t>
            </a:r>
          </a:p>
        </p:txBody>
      </p:sp>
      <p:sp>
        <p:nvSpPr>
          <p:cNvPr id="8" name="Anim_fade_Delay400_3088166490576"/>
          <p:cNvSpPr txBox="1"/>
          <p:nvPr/>
        </p:nvSpPr>
        <p:spPr>
          <a:xfrm>
            <a:off x="1440000" y="540000"/>
            <a:ext cx="36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4F9C"/>
                </a:solidFill>
              </a:defRPr>
            </a:pPr>
            <a:r>
              <a:rPr dirty="0"/>
              <a:t>🍎 </a:t>
            </a:r>
            <a:r>
              <a:rPr dirty="0" err="1"/>
              <a:t>水果代换</a:t>
            </a:r>
            <a:r>
              <a:rPr dirty="0"/>
              <a:t> - </a:t>
            </a:r>
            <a:r>
              <a:rPr dirty="0" err="1"/>
              <a:t>等量代换</a:t>
            </a:r>
            <a:endParaRPr dirty="0"/>
          </a:p>
        </p:txBody>
      </p:sp>
      <p:sp>
        <p:nvSpPr>
          <p:cNvPr id="9" name="Anim_fly_in_Delay500_3088166490704"/>
          <p:cNvSpPr txBox="1"/>
          <p:nvPr/>
        </p:nvSpPr>
        <p:spPr>
          <a:xfrm>
            <a:off x="540000" y="1080000"/>
            <a:ext cx="6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4F"/>
                </a:solidFill>
              </a:defRPr>
            </a:pPr>
            <a:r>
              <a:rPr dirty="0"/>
              <a:t>🍎 + 🍌 = 9</a:t>
            </a:r>
            <a:br>
              <a:rPr dirty="0"/>
            </a:br>
            <a:r>
              <a:rPr dirty="0"/>
              <a:t>🍌 + 🍇 = 8</a:t>
            </a:r>
            <a:br>
              <a:rPr dirty="0"/>
            </a:br>
            <a:r>
              <a:rPr dirty="0"/>
              <a:t>🍎 + 🍌 + 🍇 = 15</a:t>
            </a:r>
            <a:br>
              <a:rPr dirty="0"/>
            </a:br>
            <a:r>
              <a:rPr dirty="0"/>
              <a:t>求：🍎=？ 🍌=？ 🍇=？</a:t>
            </a:r>
          </a:p>
        </p:txBody>
      </p:sp>
      <p:sp>
        <p:nvSpPr>
          <p:cNvPr id="10" name="ClickToShow_Answer_4"/>
          <p:cNvSpPr/>
          <p:nvPr/>
        </p:nvSpPr>
        <p:spPr>
          <a:xfrm>
            <a:off x="540000" y="2700000"/>
            <a:ext cx="6120000" cy="2225148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fade_Delay800_3088166494480"/>
          <p:cNvSpPr txBox="1"/>
          <p:nvPr/>
        </p:nvSpPr>
        <p:spPr>
          <a:xfrm>
            <a:off x="720000" y="280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2" name="Anim_fade_Delay900_3088166493072"/>
          <p:cNvSpPr txBox="1"/>
          <p:nvPr/>
        </p:nvSpPr>
        <p:spPr>
          <a:xfrm>
            <a:off x="720000" y="3131999"/>
            <a:ext cx="576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：🍎=7, 🍌=2, 🍇=6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用第三个式子减第一个式子得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🍇=6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再依次推导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🍌=2，🍎=7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💡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整体减部分，未知数现形</a:t>
            </a:r>
            <a:endParaRPr dirty="0">
              <a:latin typeface="站酷快乐体2016修订版" panose="02010600030101010101" pitchFamily="2" charset="-122"/>
              <a:ea typeface="站酷快乐体2016修订版" panose="02010600030101010101" pitchFamily="2" charset="-122"/>
            </a:endParaRPr>
          </a:p>
        </p:txBody>
      </p:sp>
      <p:sp>
        <p:nvSpPr>
          <p:cNvPr id="13" name="Anim_fade_Delay1100_3088166493008"/>
          <p:cNvSpPr/>
          <p:nvPr/>
        </p:nvSpPr>
        <p:spPr>
          <a:xfrm>
            <a:off x="540000" y="5117932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fade_Delay1200_3088166495632"/>
          <p:cNvSpPr txBox="1"/>
          <p:nvPr/>
        </p:nvSpPr>
        <p:spPr>
          <a:xfrm>
            <a:off x="540000" y="5148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rPr dirty="0" err="1"/>
              <a:t>逻辑力</a:t>
            </a:r>
            <a:endParaRPr dirty="0"/>
          </a:p>
        </p:txBody>
      </p:sp>
      <p:sp>
        <p:nvSpPr>
          <p:cNvPr id="15" name="Anim_fade_Delay1200_3088166496016"/>
          <p:cNvSpPr/>
          <p:nvPr/>
        </p:nvSpPr>
        <p:spPr>
          <a:xfrm>
            <a:off x="1620000" y="5117932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_fade_Delay1300_3088166496656"/>
          <p:cNvSpPr txBox="1"/>
          <p:nvPr/>
        </p:nvSpPr>
        <p:spPr>
          <a:xfrm>
            <a:off x="1620000" y="5153933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rPr dirty="0" err="1"/>
              <a:t>代换思维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8000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98896"/>
          <p:cNvSpPr txBox="1"/>
          <p:nvPr/>
        </p:nvSpPr>
        <p:spPr>
          <a:xfrm>
            <a:off x="5399999" y="180000"/>
            <a:ext cx="15872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400" b="0">
                <a:solidFill>
                  <a:srgbClr val="9E2A2B"/>
                </a:solidFill>
              </a:defRPr>
            </a:pPr>
            <a:r>
              <a:rPr dirty="0"/>
              <a:t>⭐⭐⭐</a:t>
            </a:r>
          </a:p>
        </p:txBody>
      </p:sp>
      <p:sp>
        <p:nvSpPr>
          <p:cNvPr id="5" name="Anim_fade_Delay100_3088166499600"/>
          <p:cNvSpPr/>
          <p:nvPr/>
        </p:nvSpPr>
        <p:spPr>
          <a:xfrm>
            <a:off x="539999" y="180000"/>
            <a:ext cx="1805909" cy="288000"/>
          </a:xfrm>
          <a:prstGeom prst="roundRect">
            <a:avLst/>
          </a:prstGeom>
          <a:solidFill>
            <a:srgbClr val="F2EFF8"/>
          </a:solidFill>
          <a:ln w="25400">
            <a:solidFill>
              <a:srgbClr val="6B4F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_fade_Delay200_3088166500816"/>
          <p:cNvSpPr txBox="1"/>
          <p:nvPr/>
        </p:nvSpPr>
        <p:spPr>
          <a:xfrm>
            <a:off x="612000" y="198000"/>
            <a:ext cx="1733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4F9C"/>
                </a:solidFill>
              </a:defRPr>
            </a:pPr>
            <a:r>
              <a:rPr dirty="0" err="1"/>
              <a:t>方法：规律递推法</a:t>
            </a:r>
            <a:endParaRPr dirty="0"/>
          </a:p>
        </p:txBody>
      </p:sp>
      <p:sp>
        <p:nvSpPr>
          <p:cNvPr id="7" name="Anim_fade_Delay300_3088166500304"/>
          <p:cNvSpPr txBox="1"/>
          <p:nvPr/>
        </p:nvSpPr>
        <p:spPr>
          <a:xfrm>
            <a:off x="540000" y="540000"/>
            <a:ext cx="7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4F9C"/>
                </a:solidFill>
              </a:defRPr>
            </a:pPr>
            <a:r>
              <a:t>题5</a:t>
            </a:r>
          </a:p>
        </p:txBody>
      </p:sp>
      <p:sp>
        <p:nvSpPr>
          <p:cNvPr id="8" name="Anim_fade_Delay400_3088166498512"/>
          <p:cNvSpPr txBox="1"/>
          <p:nvPr/>
        </p:nvSpPr>
        <p:spPr>
          <a:xfrm>
            <a:off x="1440000" y="540000"/>
            <a:ext cx="45445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B4F9C"/>
                </a:solidFill>
              </a:defRPr>
            </a:pPr>
            <a:r>
              <a:rPr dirty="0"/>
              <a:t>🌸 </a:t>
            </a:r>
            <a:r>
              <a:rPr dirty="0" err="1"/>
              <a:t>花瓣的秘密</a:t>
            </a:r>
            <a:r>
              <a:rPr dirty="0"/>
              <a:t> - </a:t>
            </a:r>
            <a:r>
              <a:rPr dirty="0" err="1"/>
              <a:t>斐波那契数列</a:t>
            </a:r>
            <a:endParaRPr dirty="0"/>
          </a:p>
        </p:txBody>
      </p:sp>
      <p:sp>
        <p:nvSpPr>
          <p:cNvPr id="9" name="Anim_fly_in_Delay500_3088166498640"/>
          <p:cNvSpPr txBox="1"/>
          <p:nvPr/>
        </p:nvSpPr>
        <p:spPr>
          <a:xfrm>
            <a:off x="540000" y="1080000"/>
            <a:ext cx="612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C3E4F"/>
                </a:solidFill>
              </a:defRPr>
            </a:pPr>
            <a:r>
              <a:rPr dirty="0"/>
              <a:t>1, 1, 2, 3, 5, 8, __, __, __</a:t>
            </a:r>
            <a:br>
              <a:rPr dirty="0"/>
            </a:br>
            <a:br>
              <a:rPr dirty="0"/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自然中的斐波那契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🌸 百合花3瓣  🌸 梅花5瓣  🌸 波斯菊8瓣</a:t>
            </a:r>
          </a:p>
        </p:txBody>
      </p:sp>
      <p:sp>
        <p:nvSpPr>
          <p:cNvPr id="10" name="ClickToShow_Answer_5"/>
          <p:cNvSpPr/>
          <p:nvPr/>
        </p:nvSpPr>
        <p:spPr>
          <a:xfrm>
            <a:off x="540000" y="2699999"/>
            <a:ext cx="6120000" cy="2508927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fade_Delay800_3088166502032"/>
          <p:cNvSpPr txBox="1"/>
          <p:nvPr/>
        </p:nvSpPr>
        <p:spPr>
          <a:xfrm>
            <a:off x="720000" y="280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12" name="Anim_fade_Delay900_3088166501776"/>
          <p:cNvSpPr txBox="1"/>
          <p:nvPr/>
        </p:nvSpPr>
        <p:spPr>
          <a:xfrm>
            <a:off x="720000" y="3131999"/>
            <a:ext cx="5760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答案：13, 21, 34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规律：从第3个数开始，每个数都是前两个数相加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兔子繁殖表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月份：1  2  3  4  5  6  7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对数：1  1  2  3  5  8  13</a:t>
            </a:r>
          </a:p>
        </p:txBody>
      </p:sp>
      <p:sp>
        <p:nvSpPr>
          <p:cNvPr id="13" name="Anim_fade_Delay1100_3088166502352"/>
          <p:cNvSpPr/>
          <p:nvPr/>
        </p:nvSpPr>
        <p:spPr>
          <a:xfrm>
            <a:off x="540000" y="5319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Anim_fade_Delay1200_3088166372624"/>
          <p:cNvSpPr txBox="1"/>
          <p:nvPr/>
        </p:nvSpPr>
        <p:spPr>
          <a:xfrm>
            <a:off x="539999" y="5319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规律发现</a:t>
            </a:r>
          </a:p>
        </p:txBody>
      </p:sp>
      <p:sp>
        <p:nvSpPr>
          <p:cNvPr id="15" name="Anim_fade_Delay1200_3088166500176"/>
          <p:cNvSpPr/>
          <p:nvPr/>
        </p:nvSpPr>
        <p:spPr>
          <a:xfrm>
            <a:off x="1620000" y="5319000"/>
            <a:ext cx="900000" cy="28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Anim_fade_Delay1300_3088166373648"/>
          <p:cNvSpPr txBox="1"/>
          <p:nvPr/>
        </p:nvSpPr>
        <p:spPr>
          <a:xfrm>
            <a:off x="1619999" y="5319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4F9C"/>
                </a:solidFill>
              </a:defRPr>
            </a:pPr>
            <a:r>
              <a:t>自然数学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  <p:bldP spid="8" grpId="0"/>
      <p:bldP spid="9" grpId="0"/>
      <p:bldP spid="10" grpId="0" animBg="1"/>
      <p:bldP spid="11" grpId="0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2329296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C3E4F"/>
                </a:solidFill>
              </a:defRPr>
            </a:pPr>
            <a:r>
              <a:t>🏆</a:t>
            </a:r>
          </a:p>
        </p:txBody>
      </p:sp>
      <p:sp>
        <p:nvSpPr>
          <p:cNvPr id="5" name="Anim_zoom_Delay300_3088166499280"/>
          <p:cNvSpPr txBox="1"/>
          <p:nvPr/>
        </p:nvSpPr>
        <p:spPr>
          <a:xfrm>
            <a:off x="720000" y="3240000"/>
            <a:ext cx="57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挑战练习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502352"/>
          <p:cNvSpPr txBox="1"/>
          <p:nvPr/>
        </p:nvSpPr>
        <p:spPr>
          <a:xfrm>
            <a:off x="720000" y="414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小小数学家实验室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6480000" cy="540000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zoom_Delay0_3088166494480"/>
          <p:cNvSpPr txBox="1"/>
          <p:nvPr/>
        </p:nvSpPr>
        <p:spPr>
          <a:xfrm>
            <a:off x="360000" y="251999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 挑战题6 - 数字密码锁 ⭐⭐⭐⭐</a:t>
            </a:r>
          </a:p>
        </p:txBody>
      </p:sp>
      <p:sp>
        <p:nvSpPr>
          <p:cNvPr id="5" name="Anim_fly_in_Delay200_3088166498384"/>
          <p:cNvSpPr/>
          <p:nvPr/>
        </p:nvSpPr>
        <p:spPr>
          <a:xfrm>
            <a:off x="360000" y="900000"/>
            <a:ext cx="6480000" cy="1800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_fade_Delay400_3088166492560"/>
          <p:cNvSpPr txBox="1"/>
          <p:nvPr/>
        </p:nvSpPr>
        <p:spPr>
          <a:xfrm>
            <a:off x="720000" y="1080000"/>
            <a:ext cx="5760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一个3位数密码锁：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① 百位比十位大2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② 个位是十位的2倍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③ 三个数的和是14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求：密码是多少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？</a:t>
            </a:r>
          </a:p>
        </p:txBody>
      </p:sp>
      <p:sp>
        <p:nvSpPr>
          <p:cNvPr id="7" name="ClickToShow_Answer_6"/>
          <p:cNvSpPr/>
          <p:nvPr/>
        </p:nvSpPr>
        <p:spPr>
          <a:xfrm>
            <a:off x="360000" y="2879999"/>
            <a:ext cx="6480000" cy="2215415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_fade_Delay700_3088166492304"/>
          <p:cNvSpPr txBox="1"/>
          <p:nvPr/>
        </p:nvSpPr>
        <p:spPr>
          <a:xfrm>
            <a:off x="720000" y="2988000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t>💡 解析</a:t>
            </a:r>
          </a:p>
        </p:txBody>
      </p:sp>
      <p:sp>
        <p:nvSpPr>
          <p:cNvPr id="9" name="Anim_fade_Delay800_3088166497424"/>
          <p:cNvSpPr txBox="1"/>
          <p:nvPr/>
        </p:nvSpPr>
        <p:spPr>
          <a:xfrm>
            <a:off x="720000" y="3311999"/>
            <a:ext cx="5760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答案：536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设十位为x，则百位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=x+2，个位=2x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(x+2) + x + 2x = 14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4x + 2 = 14 → 4x = 12 → x = 3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∴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密码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 = 536</a:t>
            </a:r>
          </a:p>
        </p:txBody>
      </p:sp>
      <p:sp>
        <p:nvSpPr>
          <p:cNvPr id="10" name="Anim_bounce_Delay1000_3088166493904"/>
          <p:cNvSpPr/>
          <p:nvPr/>
        </p:nvSpPr>
        <p:spPr>
          <a:xfrm>
            <a:off x="360000" y="5418000"/>
            <a:ext cx="6480000" cy="72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fade_Delay1100_3088166488912"/>
          <p:cNvSpPr txBox="1"/>
          <p:nvPr/>
        </p:nvSpPr>
        <p:spPr>
          <a:xfrm>
            <a:off x="720000" y="5526000"/>
            <a:ext cx="576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/>
              <a:t>🧠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思维发散：还可以用枚举法尝试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 | 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从条件③入手也可以</a:t>
            </a:r>
            <a:endParaRPr dirty="0">
              <a:latin typeface="站酷快乐体2016修订版" panose="02010600030101010101" pitchFamily="2" charset="-122"/>
              <a:ea typeface="站酷快乐体2016修订版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  <p:bldP spid="9" grpId="0"/>
      <p:bldP spid="10" grpId="0" animBg="1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60000" y="180000"/>
            <a:ext cx="6480000" cy="540000"/>
          </a:xfrm>
          <a:prstGeom prst="roundRect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zoom_Delay0_3088166489040"/>
          <p:cNvSpPr txBox="1"/>
          <p:nvPr/>
        </p:nvSpPr>
        <p:spPr>
          <a:xfrm>
            <a:off x="360000" y="251999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🏆 挑战题7 - 正方体展开图 ⭐⭐⭐⭐</a:t>
            </a:r>
          </a:p>
        </p:txBody>
      </p:sp>
      <p:sp>
        <p:nvSpPr>
          <p:cNvPr id="5" name="Anim_fly_in_Delay200_3088166491152"/>
          <p:cNvSpPr/>
          <p:nvPr/>
        </p:nvSpPr>
        <p:spPr>
          <a:xfrm>
            <a:off x="360000" y="899999"/>
            <a:ext cx="6480000" cy="235020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Anim_fade_Delay400_3088166485840"/>
          <p:cNvSpPr txBox="1"/>
          <p:nvPr/>
        </p:nvSpPr>
        <p:spPr>
          <a:xfrm>
            <a:off x="720000" y="1080000"/>
            <a:ext cx="576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C3E4F"/>
                </a:solidFill>
              </a:defRPr>
            </a:pP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一个正方体的展开图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：</a:t>
            </a:r>
            <a:br>
              <a:rPr dirty="0"/>
            </a:br>
            <a:r>
              <a:rPr dirty="0"/>
              <a:t>    [1]</a:t>
            </a:r>
            <a:br>
              <a:rPr dirty="0"/>
            </a:br>
            <a:r>
              <a:rPr dirty="0"/>
              <a:t>[2][3][4][5]</a:t>
            </a:r>
            <a:br>
              <a:rPr dirty="0"/>
            </a:br>
            <a:r>
              <a:rPr dirty="0"/>
              <a:t>    [6]</a:t>
            </a:r>
            <a:br>
              <a:rPr dirty="0"/>
            </a:br>
            <a:br>
              <a:rPr dirty="0"/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数字1对面是几？数字2对面是几？</a:t>
            </a:r>
          </a:p>
        </p:txBody>
      </p:sp>
      <p:sp>
        <p:nvSpPr>
          <p:cNvPr id="7" name="ClickToShow_Answer_7"/>
          <p:cNvSpPr/>
          <p:nvPr/>
        </p:nvSpPr>
        <p:spPr>
          <a:xfrm>
            <a:off x="404143" y="3474000"/>
            <a:ext cx="6480000" cy="1800000"/>
          </a:xfrm>
          <a:prstGeom prst="roundRect">
            <a:avLst/>
          </a:prstGeom>
          <a:solidFill>
            <a:srgbClr val="F0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Anim_fade_Delay700_3088166483152"/>
          <p:cNvSpPr txBox="1"/>
          <p:nvPr/>
        </p:nvSpPr>
        <p:spPr>
          <a:xfrm>
            <a:off x="720000" y="3648992"/>
            <a:ext cx="57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9E2A2B"/>
                </a:solidFill>
              </a:defRPr>
            </a:pPr>
            <a:r>
              <a:rPr dirty="0"/>
              <a:t>💡 </a:t>
            </a:r>
            <a:r>
              <a:rPr dirty="0" err="1"/>
              <a:t>解析</a:t>
            </a:r>
            <a:endParaRPr dirty="0"/>
          </a:p>
        </p:txBody>
      </p:sp>
      <p:sp>
        <p:nvSpPr>
          <p:cNvPr id="9" name="Anim_fade_Delay800_3088166485456"/>
          <p:cNvSpPr txBox="1"/>
          <p:nvPr/>
        </p:nvSpPr>
        <p:spPr>
          <a:xfrm>
            <a:off x="720000" y="3972991"/>
            <a:ext cx="5760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答案：1对6，2对4，3对5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规律：正方体展开图中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，"</a:t>
            </a:r>
            <a:r>
              <a:rPr dirty="0" err="1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隔一个是对面</a:t>
            </a: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"</a:t>
            </a:r>
            <a:b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</a:br>
            <a:r>
              <a:rPr dirty="0">
                <a:latin typeface="站酷快乐体2016修订版" panose="02010600030101010101" pitchFamily="2" charset="-122"/>
                <a:ea typeface="站酷快乐体2016修订版" panose="02010600030101010101" pitchFamily="2" charset="-122"/>
              </a:rPr>
              <a:t>1和6中间隔了3，2和4中间隔了3，剩下的3和5相对</a:t>
            </a:r>
          </a:p>
        </p:txBody>
      </p:sp>
      <p:sp>
        <p:nvSpPr>
          <p:cNvPr id="10" name="Anim_bounce_Delay1000_3088166483664"/>
          <p:cNvSpPr/>
          <p:nvPr/>
        </p:nvSpPr>
        <p:spPr>
          <a:xfrm>
            <a:off x="404143" y="5454000"/>
            <a:ext cx="6480000" cy="72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Anim_fade_Delay1100_3088166478480"/>
          <p:cNvSpPr txBox="1"/>
          <p:nvPr/>
        </p:nvSpPr>
        <p:spPr>
          <a:xfrm>
            <a:off x="1080000" y="5681002"/>
            <a:ext cx="5760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4F"/>
                </a:solidFill>
              </a:defRPr>
            </a:pPr>
            <a:r>
              <a:rPr sz="1200" dirty="0"/>
              <a:t>🧠 </a:t>
            </a:r>
            <a:r>
              <a:rPr sz="1200" dirty="0" err="1"/>
              <a:t>思维发散：尝试折叠展开图验证</a:t>
            </a:r>
            <a:r>
              <a:rPr sz="1200" dirty="0"/>
              <a:t> | </a:t>
            </a:r>
            <a:r>
              <a:rPr sz="1200" dirty="0" err="1"/>
              <a:t>思考：还有其他判断方法吗</a:t>
            </a:r>
            <a:r>
              <a:rPr sz="1200" dirty="0"/>
              <a:t>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6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 animBg="1"/>
      <p:bldP spid="8" grpId="0"/>
      <p:bldP spid="9" grpId="0"/>
      <p:bldP spid="10" grpId="0" animBg="1"/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440000"/>
            <a:ext cx="540000" cy="2880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bounce_Delay0_3088166477776"/>
          <p:cNvSpPr txBox="1"/>
          <p:nvPr/>
        </p:nvSpPr>
        <p:spPr>
          <a:xfrm>
            <a:off x="2160000" y="1800000"/>
            <a:ext cx="28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>
                <a:solidFill>
                  <a:srgbClr val="2C3E4F"/>
                </a:solidFill>
              </a:defRPr>
            </a:pPr>
            <a:r>
              <a:t>🎨</a:t>
            </a:r>
          </a:p>
        </p:txBody>
      </p:sp>
      <p:sp>
        <p:nvSpPr>
          <p:cNvPr id="5" name="Anim_zoom_Delay300_3088166477712"/>
          <p:cNvSpPr txBox="1"/>
          <p:nvPr/>
        </p:nvSpPr>
        <p:spPr>
          <a:xfrm>
            <a:off x="720000" y="3240000"/>
            <a:ext cx="576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B4F9C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教具清单</a:t>
            </a:r>
            <a:endParaRPr dirty="0">
              <a:latin typeface="字魂39号-肥宅快乐体" panose="00000500000000000000" pitchFamily="2" charset="-122"/>
              <a:ea typeface="字魂39号-肥宅快乐体" panose="00000500000000000000" pitchFamily="2" charset="-122"/>
            </a:endParaRPr>
          </a:p>
        </p:txBody>
      </p:sp>
      <p:sp>
        <p:nvSpPr>
          <p:cNvPr id="6" name="Anim_fade_Delay500_3088166478352"/>
          <p:cNvSpPr txBox="1"/>
          <p:nvPr/>
        </p:nvSpPr>
        <p:spPr>
          <a:xfrm>
            <a:off x="720000" y="4140000"/>
            <a:ext cx="576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C3E4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宝藏准备</a:t>
            </a:r>
            <a:endParaRPr dirty="0">
              <a:latin typeface="字魂168号-小茉莉" panose="00000500000000000000" pitchFamily="2" charset="-122"/>
              <a:ea typeface="字魂168号-小茉莉" panose="00000500000000000000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nim_fade_Delay0_3088166477520"/>
          <p:cNvSpPr txBox="1"/>
          <p:nvPr/>
        </p:nvSpPr>
        <p:spPr>
          <a:xfrm>
            <a:off x="720000" y="360000"/>
            <a:ext cx="57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4F9C"/>
                </a:solidFill>
              </a:defRPr>
            </a:pPr>
            <a:r>
              <a:t>🎨 教具清单 - 宝藏准备</a:t>
            </a:r>
          </a:p>
        </p:txBody>
      </p:sp>
      <p:sp>
        <p:nvSpPr>
          <p:cNvPr id="4" name="Anim_fly_in_Delay200_3088166476368"/>
          <p:cNvSpPr/>
          <p:nvPr/>
        </p:nvSpPr>
        <p:spPr>
          <a:xfrm>
            <a:off x="540000" y="108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Anim_fade_Delay250_3088166471248"/>
          <p:cNvSpPr txBox="1"/>
          <p:nvPr/>
        </p:nvSpPr>
        <p:spPr>
          <a:xfrm>
            <a:off x="720000" y="115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6" name="Anim_fade_Delay300_3088166474192"/>
          <p:cNvSpPr txBox="1"/>
          <p:nvPr/>
        </p:nvSpPr>
        <p:spPr>
          <a:xfrm>
            <a:off x="1620000" y="115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数字卡片（0-9）</a:t>
            </a:r>
          </a:p>
        </p:txBody>
      </p:sp>
      <p:sp>
        <p:nvSpPr>
          <p:cNvPr id="7" name="Anim_fade_Delay350_3088166470608"/>
          <p:cNvSpPr txBox="1"/>
          <p:nvPr/>
        </p:nvSpPr>
        <p:spPr>
          <a:xfrm>
            <a:off x="3600000" y="115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8" name="Anim_fade_Delay400_3088166470736"/>
          <p:cNvSpPr txBox="1"/>
          <p:nvPr/>
        </p:nvSpPr>
        <p:spPr>
          <a:xfrm>
            <a:off x="4320000" y="115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数字接龙、排序游戏</a:t>
            </a:r>
          </a:p>
        </p:txBody>
      </p:sp>
      <p:sp>
        <p:nvSpPr>
          <p:cNvPr id="9" name="Anim_fly_in_Delay300_3088166476048"/>
          <p:cNvSpPr/>
          <p:nvPr/>
        </p:nvSpPr>
        <p:spPr>
          <a:xfrm>
            <a:off x="540000" y="162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Anim_fade_Delay350_3088166420048"/>
          <p:cNvSpPr txBox="1"/>
          <p:nvPr/>
        </p:nvSpPr>
        <p:spPr>
          <a:xfrm>
            <a:off x="720000" y="169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11" name="Anim_fade_Delay400_3088166412432"/>
          <p:cNvSpPr txBox="1"/>
          <p:nvPr/>
        </p:nvSpPr>
        <p:spPr>
          <a:xfrm>
            <a:off x="1620000" y="169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图形卡片（△□○）</a:t>
            </a:r>
          </a:p>
        </p:txBody>
      </p:sp>
      <p:sp>
        <p:nvSpPr>
          <p:cNvPr id="12" name="Anim_fade_Delay450_3088166417424"/>
          <p:cNvSpPr txBox="1"/>
          <p:nvPr/>
        </p:nvSpPr>
        <p:spPr>
          <a:xfrm>
            <a:off x="3600000" y="169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13" name="Anim_fade_Delay500_3088164674960"/>
          <p:cNvSpPr txBox="1"/>
          <p:nvPr/>
        </p:nvSpPr>
        <p:spPr>
          <a:xfrm>
            <a:off x="4320000" y="169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找规律、图形计数</a:t>
            </a:r>
          </a:p>
        </p:txBody>
      </p:sp>
      <p:sp>
        <p:nvSpPr>
          <p:cNvPr id="14" name="Anim_fly_in_Delay400_3088166412304"/>
          <p:cNvSpPr/>
          <p:nvPr/>
        </p:nvSpPr>
        <p:spPr>
          <a:xfrm>
            <a:off x="540000" y="216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Anim_fade_Delay450_3088166485776"/>
          <p:cNvSpPr txBox="1"/>
          <p:nvPr/>
        </p:nvSpPr>
        <p:spPr>
          <a:xfrm>
            <a:off x="720000" y="223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16" name="Anim_fade_Delay500_3088164674832"/>
          <p:cNvSpPr txBox="1"/>
          <p:nvPr/>
        </p:nvSpPr>
        <p:spPr>
          <a:xfrm>
            <a:off x="1620000" y="223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数独练习卡</a:t>
            </a:r>
          </a:p>
        </p:txBody>
      </p:sp>
      <p:sp>
        <p:nvSpPr>
          <p:cNvPr id="17" name="Anim_fade_Delay550_3088166476944"/>
          <p:cNvSpPr txBox="1"/>
          <p:nvPr/>
        </p:nvSpPr>
        <p:spPr>
          <a:xfrm>
            <a:off x="3600000" y="223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18" name="Anim_fade_Delay600_3088164674832"/>
          <p:cNvSpPr txBox="1"/>
          <p:nvPr/>
        </p:nvSpPr>
        <p:spPr>
          <a:xfrm>
            <a:off x="4320000" y="223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四宫格/六宫格数独</a:t>
            </a:r>
          </a:p>
        </p:txBody>
      </p:sp>
      <p:sp>
        <p:nvSpPr>
          <p:cNvPr id="19" name="Anim_fly_in_Delay500_3088166470736"/>
          <p:cNvSpPr/>
          <p:nvPr/>
        </p:nvSpPr>
        <p:spPr>
          <a:xfrm>
            <a:off x="540000" y="270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Anim_fade_Delay550_3088166443152"/>
          <p:cNvSpPr txBox="1"/>
          <p:nvPr/>
        </p:nvSpPr>
        <p:spPr>
          <a:xfrm>
            <a:off x="720000" y="277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21" name="Anim_fade_Delay600_3088166442448"/>
          <p:cNvSpPr txBox="1"/>
          <p:nvPr/>
        </p:nvSpPr>
        <p:spPr>
          <a:xfrm>
            <a:off x="1620000" y="277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正方体展开图卡片</a:t>
            </a:r>
          </a:p>
        </p:txBody>
      </p:sp>
      <p:sp>
        <p:nvSpPr>
          <p:cNvPr id="22" name="Anim_fade_Delay650_3088166439824"/>
          <p:cNvSpPr txBox="1"/>
          <p:nvPr/>
        </p:nvSpPr>
        <p:spPr>
          <a:xfrm>
            <a:off x="3600000" y="277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23" name="Anim_fade_Delay700_3088166442512"/>
          <p:cNvSpPr txBox="1"/>
          <p:nvPr/>
        </p:nvSpPr>
        <p:spPr>
          <a:xfrm>
            <a:off x="4320000" y="277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空间力思考题实操</a:t>
            </a:r>
          </a:p>
        </p:txBody>
      </p:sp>
      <p:sp>
        <p:nvSpPr>
          <p:cNvPr id="24" name="Anim_fly_in_Delay600_3088166471120"/>
          <p:cNvSpPr/>
          <p:nvPr/>
        </p:nvSpPr>
        <p:spPr>
          <a:xfrm>
            <a:off x="540000" y="324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Anim_fade_Delay650_3088166438480"/>
          <p:cNvSpPr txBox="1"/>
          <p:nvPr/>
        </p:nvSpPr>
        <p:spPr>
          <a:xfrm>
            <a:off x="720000" y="331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E2A2B"/>
                </a:solidFill>
              </a:defRPr>
            </a:pPr>
            <a:r>
              <a:t>🥇 必备</a:t>
            </a:r>
          </a:p>
        </p:txBody>
      </p:sp>
      <p:sp>
        <p:nvSpPr>
          <p:cNvPr id="26" name="Anim_fade_Delay700_3088166445456"/>
          <p:cNvSpPr txBox="1"/>
          <p:nvPr/>
        </p:nvSpPr>
        <p:spPr>
          <a:xfrm>
            <a:off x="1620000" y="331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小白板+马克笔</a:t>
            </a:r>
          </a:p>
        </p:txBody>
      </p:sp>
      <p:sp>
        <p:nvSpPr>
          <p:cNvPr id="27" name="Anim_fade_Delay750_3088166449232"/>
          <p:cNvSpPr txBox="1"/>
          <p:nvPr/>
        </p:nvSpPr>
        <p:spPr>
          <a:xfrm>
            <a:off x="3600000" y="331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6套</a:t>
            </a:r>
          </a:p>
        </p:txBody>
      </p:sp>
      <p:sp>
        <p:nvSpPr>
          <p:cNvPr id="28" name="Anim_fade_Delay800_3088166441744"/>
          <p:cNvSpPr txBox="1"/>
          <p:nvPr/>
        </p:nvSpPr>
        <p:spPr>
          <a:xfrm>
            <a:off x="4320000" y="331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数学小讲师环节</a:t>
            </a:r>
          </a:p>
        </p:txBody>
      </p:sp>
      <p:sp>
        <p:nvSpPr>
          <p:cNvPr id="29" name="Anim_fly_in_Delay700_3088166449360"/>
          <p:cNvSpPr/>
          <p:nvPr/>
        </p:nvSpPr>
        <p:spPr>
          <a:xfrm>
            <a:off x="540000" y="378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Anim_fade_Delay750_3088166447504"/>
          <p:cNvSpPr txBox="1"/>
          <p:nvPr/>
        </p:nvSpPr>
        <p:spPr>
          <a:xfrm>
            <a:off x="720000" y="385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4F9C"/>
                </a:solidFill>
              </a:defRPr>
            </a:pPr>
            <a:r>
              <a:t>🥈 推荐</a:t>
            </a:r>
          </a:p>
        </p:txBody>
      </p:sp>
      <p:sp>
        <p:nvSpPr>
          <p:cNvPr id="31" name="Anim_fade_Delay800_3088166451216"/>
          <p:cNvSpPr txBox="1"/>
          <p:nvPr/>
        </p:nvSpPr>
        <p:spPr>
          <a:xfrm>
            <a:off x="1620000" y="385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数字规律海报</a:t>
            </a:r>
          </a:p>
        </p:txBody>
      </p:sp>
      <p:sp>
        <p:nvSpPr>
          <p:cNvPr id="32" name="Anim_fade_Delay850_3088166440464"/>
          <p:cNvSpPr txBox="1"/>
          <p:nvPr/>
        </p:nvSpPr>
        <p:spPr>
          <a:xfrm>
            <a:off x="3600000" y="385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1张</a:t>
            </a:r>
          </a:p>
        </p:txBody>
      </p:sp>
      <p:sp>
        <p:nvSpPr>
          <p:cNvPr id="33" name="Anim_fade_Delay900_3088166448528"/>
          <p:cNvSpPr txBox="1"/>
          <p:nvPr/>
        </p:nvSpPr>
        <p:spPr>
          <a:xfrm>
            <a:off x="4320000" y="385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展示斐波那契规律</a:t>
            </a:r>
          </a:p>
        </p:txBody>
      </p:sp>
      <p:sp>
        <p:nvSpPr>
          <p:cNvPr id="34" name="Anim_fly_in_Delay800_3088166411152"/>
          <p:cNvSpPr/>
          <p:nvPr/>
        </p:nvSpPr>
        <p:spPr>
          <a:xfrm>
            <a:off x="540000" y="4320000"/>
            <a:ext cx="6120000" cy="46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Anim_fade_Delay850_3088166450512"/>
          <p:cNvSpPr txBox="1"/>
          <p:nvPr/>
        </p:nvSpPr>
        <p:spPr>
          <a:xfrm>
            <a:off x="720000" y="439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4F9C"/>
                </a:solidFill>
              </a:defRPr>
            </a:pPr>
            <a:r>
              <a:t>🥈 推荐</a:t>
            </a:r>
          </a:p>
        </p:txBody>
      </p:sp>
      <p:sp>
        <p:nvSpPr>
          <p:cNvPr id="36" name="Anim_fade_Delay900_3088166448528"/>
          <p:cNvSpPr txBox="1"/>
          <p:nvPr/>
        </p:nvSpPr>
        <p:spPr>
          <a:xfrm>
            <a:off x="1620000" y="439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错题记录本</a:t>
            </a:r>
          </a:p>
        </p:txBody>
      </p:sp>
      <p:sp>
        <p:nvSpPr>
          <p:cNvPr id="37" name="Anim_fade_Delay950_3088166445456"/>
          <p:cNvSpPr txBox="1"/>
          <p:nvPr/>
        </p:nvSpPr>
        <p:spPr>
          <a:xfrm>
            <a:off x="3600000" y="439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6本</a:t>
            </a:r>
          </a:p>
        </p:txBody>
      </p:sp>
      <p:sp>
        <p:nvSpPr>
          <p:cNvPr id="38" name="Anim_fade_Delay1000_3088166441744"/>
          <p:cNvSpPr txBox="1"/>
          <p:nvPr/>
        </p:nvSpPr>
        <p:spPr>
          <a:xfrm>
            <a:off x="4320000" y="439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记录错误与复盘</a:t>
            </a:r>
          </a:p>
        </p:txBody>
      </p:sp>
      <p:sp>
        <p:nvSpPr>
          <p:cNvPr id="39" name="Anim_fly_in_Delay900_3088166449552"/>
          <p:cNvSpPr/>
          <p:nvPr/>
        </p:nvSpPr>
        <p:spPr>
          <a:xfrm>
            <a:off x="540000" y="4860000"/>
            <a:ext cx="6120000" cy="468000"/>
          </a:xfrm>
          <a:prstGeom prst="roundRect">
            <a:avLst/>
          </a:prstGeom>
          <a:solidFill>
            <a:srgbClr val="F2EF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Anim_fade_Delay950_3088166371920"/>
          <p:cNvSpPr txBox="1"/>
          <p:nvPr/>
        </p:nvSpPr>
        <p:spPr>
          <a:xfrm>
            <a:off x="720000" y="4932000"/>
            <a:ext cx="9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B4F9C"/>
                </a:solidFill>
              </a:defRPr>
            </a:pPr>
            <a:r>
              <a:t>🥉 拓展</a:t>
            </a:r>
          </a:p>
        </p:txBody>
      </p:sp>
      <p:sp>
        <p:nvSpPr>
          <p:cNvPr id="41" name="Anim_fade_Delay1000_3088166375184"/>
          <p:cNvSpPr txBox="1"/>
          <p:nvPr/>
        </p:nvSpPr>
        <p:spPr>
          <a:xfrm>
            <a:off x="1620000" y="4932000"/>
            <a:ext cx="18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4F"/>
                </a:solidFill>
              </a:defRPr>
            </a:pPr>
            <a:r>
              <a:t>数学绘本</a:t>
            </a:r>
          </a:p>
        </p:txBody>
      </p:sp>
      <p:sp>
        <p:nvSpPr>
          <p:cNvPr id="42" name="Anim_fade_Delay1050_3088166437520"/>
          <p:cNvSpPr txBox="1"/>
          <p:nvPr/>
        </p:nvSpPr>
        <p:spPr>
          <a:xfrm>
            <a:off x="3600000" y="4932000"/>
            <a:ext cx="7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4F"/>
                </a:solidFill>
              </a:defRPr>
            </a:pPr>
            <a:r>
              <a:t>若干</a:t>
            </a:r>
          </a:p>
        </p:txBody>
      </p:sp>
      <p:sp>
        <p:nvSpPr>
          <p:cNvPr id="43" name="Anim_fade_Delay1100_3088166439888"/>
          <p:cNvSpPr txBox="1"/>
          <p:nvPr/>
        </p:nvSpPr>
        <p:spPr>
          <a:xfrm>
            <a:off x="4320000" y="4932000"/>
            <a:ext cx="21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4F"/>
                </a:solidFill>
              </a:defRPr>
            </a:pPr>
            <a:r>
              <a:t>《兔子的12个麻烦》</a:t>
            </a:r>
          </a:p>
        </p:txBody>
      </p:sp>
      <p:sp>
        <p:nvSpPr>
          <p:cNvPr id="44" name="Anim_fade_Delay1200_3088164674960"/>
          <p:cNvSpPr/>
          <p:nvPr/>
        </p:nvSpPr>
        <p:spPr>
          <a:xfrm>
            <a:off x="540000" y="5580000"/>
            <a:ext cx="6120000" cy="540000"/>
          </a:xfrm>
          <a:prstGeom prst="roundRect">
            <a:avLst/>
          </a:prstGeom>
          <a:solidFill>
            <a:srgbClr val="FFF9E6"/>
          </a:solidFill>
          <a:ln w="2540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Anim_fade_Delay1300_3088166373200"/>
          <p:cNvSpPr txBox="1"/>
          <p:nvPr/>
        </p:nvSpPr>
        <p:spPr>
          <a:xfrm>
            <a:off x="900000" y="5688000"/>
            <a:ext cx="57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E2A2B"/>
                </a:solidFill>
              </a:defRPr>
            </a:pPr>
            <a:r>
              <a:t>💡 提示：提前准备好教具，课堂效率更高！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6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8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9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  <p:bldP spid="6" grpId="0"/>
      <p:bldP spid="7" grpId="0"/>
      <p:bldP spid="8" grpId="0"/>
      <p:bldP spid="9" grpId="0" animBg="1"/>
      <p:bldP spid="10" grpId="0"/>
      <p:bldP spid="11" grpId="0"/>
      <p:bldP spid="12" grpId="0"/>
      <p:bldP spid="13" grpId="0"/>
      <p:bldP spid="14" grpId="0" animBg="1"/>
      <p:bldP spid="15" grpId="0"/>
      <p:bldP spid="16" grpId="0"/>
      <p:bldP spid="17" grpId="0"/>
      <p:bldP spid="18" grpId="0"/>
      <p:bldP spid="19" grpId="0" animBg="1"/>
      <p:bldP spid="20" grpId="0"/>
      <p:bldP spid="21" grpId="0"/>
      <p:bldP spid="22" grpId="0"/>
      <p:bldP spid="23" grpId="0"/>
      <p:bldP spid="24" grpId="0" animBg="1"/>
      <p:bldP spid="25" grpId="0"/>
      <p:bldP spid="26" grpId="0"/>
      <p:bldP spid="27" grpId="0"/>
      <p:bldP spid="28" grpId="0"/>
      <p:bldP spid="29" grpId="0" animBg="1"/>
      <p:bldP spid="30" grpId="0"/>
      <p:bldP spid="31" grpId="0"/>
      <p:bldP spid="32" grpId="0"/>
      <p:bldP spid="33" grpId="0"/>
      <p:bldP spid="34" grpId="0" animBg="1"/>
      <p:bldP spid="35" grpId="0"/>
      <p:bldP spid="36" grpId="0"/>
      <p:bldP spid="37" grpId="0"/>
      <p:bldP spid="38" grpId="0"/>
      <p:bldP spid="39" grpId="0" animBg="1"/>
      <p:bldP spid="40" grpId="0"/>
      <p:bldP spid="41" grpId="0"/>
      <p:bldP spid="42" grpId="0"/>
      <p:bldP spid="43" grpId="0"/>
      <p:bldP spid="44" grpId="0" animBg="1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6B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nim_spin_Delay0_3088166377296"/>
          <p:cNvSpPr/>
          <p:nvPr/>
        </p:nvSpPr>
        <p:spPr>
          <a:xfrm>
            <a:off x="4320000" y="1080000"/>
            <a:ext cx="2880000" cy="2880000"/>
          </a:xfrm>
          <a:prstGeom prst="ellipse">
            <a:avLst/>
          </a:prstGeom>
          <a:solidFill>
            <a:srgbClr val="9E2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Anim_zoom_Delay300_3088166378000"/>
          <p:cNvSpPr txBox="1"/>
          <p:nvPr/>
        </p:nvSpPr>
        <p:spPr>
          <a:xfrm>
            <a:off x="720000" y="2160000"/>
            <a:ext cx="5760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感谢聆听</a:t>
            </a: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！</a:t>
            </a:r>
          </a:p>
        </p:txBody>
      </p:sp>
      <p:sp>
        <p:nvSpPr>
          <p:cNvPr id="5" name="Anim_fade_Delay600_3088166375184"/>
          <p:cNvSpPr txBox="1"/>
          <p:nvPr/>
        </p:nvSpPr>
        <p:spPr>
          <a:xfrm>
            <a:off x="720000" y="3420000"/>
            <a:ext cx="576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</a:defRPr>
            </a:pPr>
            <a:r>
              <a:rPr dirty="0" err="1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今天的小数学家们，下次见</a:t>
            </a:r>
            <a:r>
              <a:rPr dirty="0">
                <a:latin typeface="字魂168号-小茉莉" panose="00000500000000000000" pitchFamily="2" charset="-122"/>
                <a:ea typeface="字魂168号-小茉莉" panose="00000500000000000000" pitchFamily="2" charset="-122"/>
              </a:rPr>
              <a:t>！</a:t>
            </a:r>
          </a:p>
        </p:txBody>
      </p:sp>
      <p:sp>
        <p:nvSpPr>
          <p:cNvPr id="6" name="Anim_fade_Delay900_3088166377232"/>
          <p:cNvSpPr txBox="1"/>
          <p:nvPr/>
        </p:nvSpPr>
        <p:spPr>
          <a:xfrm>
            <a:off x="720000" y="4320000"/>
            <a:ext cx="5760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夏老师数学思维课堂</a:t>
            </a:r>
            <a:b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</a:b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📱 手机：13810290045</a:t>
            </a:r>
            <a:b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</a:b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💬 微信：sharpxia1017</a:t>
            </a:r>
            <a:b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</a:b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⏰ </a:t>
            </a:r>
            <a:r>
              <a:rPr dirty="0" err="1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答疑时间：周一至周五</a:t>
            </a:r>
            <a:r>
              <a:rPr dirty="0">
                <a:latin typeface="字魂39号-肥宅快乐体" panose="00000500000000000000" pitchFamily="2" charset="-122"/>
                <a:ea typeface="字魂39号-肥宅快乐体" panose="00000500000000000000" pitchFamily="2" charset="-122"/>
              </a:rPr>
              <a:t> 19:00-21:00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2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700</Words>
  <Application>Microsoft Office PowerPoint</Application>
  <PresentationFormat>宽屏</PresentationFormat>
  <Paragraphs>140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华文彩云</vt:lpstr>
      <vt:lpstr>站酷快乐体2016修订版</vt:lpstr>
      <vt:lpstr>字魂168号-小茉莉</vt:lpstr>
      <vt:lpstr>字魂18号-小恐龙</vt:lpstr>
      <vt:lpstr>字魂39号-肥宅快乐体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2026-03-16T02:55:03Z</dcterms:modified>
  <cp:category/>
</cp:coreProperties>
</file>